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01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AGENTIC GRAPH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737E84"/>
                </a:solidFill>
                <a:latin typeface="Menlo"/>
              </a:rPr>
              <a:t>AGENTIC GRAPH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32888"/>
            <a:ext cx="10637215" cy="1383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 spc="-90">
                <a:solidFill>
                  <a:srgbClr val="11161A"/>
                </a:solidFill>
                <a:latin typeface="Helvetica Neue"/>
              </a:rPr>
              <a:t>Your data already knows
who the key players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91000"/>
            <a:ext cx="8961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D474D"/>
                </a:solidFill>
                <a:latin typeface="Georgia"/>
              </a:rPr>
              <a:t>Connect a database, say what you want to know in plain English, and get a reviewed, reproducible analysis back — without writing a line of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02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737E84"/>
                </a:solidFill>
                <a:latin typeface="Menlo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602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The questions spreadsheets can’t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8603"/>
            <a:ext cx="9052560" cy="6690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474D"/>
                </a:solidFill>
                <a:latin typeface="Georgia"/>
              </a:rPr>
              <a:t>Every organisation can tell you totals. The questions that change decisions are about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63671"/>
            <a:ext cx="2494711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4984" y="3201415"/>
            <a:ext cx="2019223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Fraud &amp; financial crime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“Which accounts sit at the centre of unusual money movement?”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407" y="2963671"/>
            <a:ext cx="2494711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29151" y="3201415"/>
            <a:ext cx="2019223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Advertising &amp; identity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“Which audiences secretly overlap, so we pay twice to reach the same people?”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5575" y="2963671"/>
            <a:ext cx="2494711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3319" y="3201415"/>
            <a:ext cx="2019223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Clinical research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“Which trial sites cluster around the same investigators — and what if one leaves?”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9743" y="2963671"/>
            <a:ext cx="2494711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57487" y="3201415"/>
            <a:ext cx="2019223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Supply chain &amp; risk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“Which suppliers are we exposed to three hops away, through companies we’ve never heard of?”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12511"/>
            <a:ext cx="9052560" cy="336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474D"/>
                </a:solidFill>
                <a:latin typeface="Georgia"/>
              </a:rPr>
              <a:t>None of these are answerable by filtering rows. They’re about the shape of the connections between things.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03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737E84"/>
                </a:solidFill>
                <a:latin typeface="Menlo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602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The maths was never the obstacle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30043"/>
            <a:ext cx="3399434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2367787"/>
            <a:ext cx="2923946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PageRank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The technique that made Google work. Tells you what is influential in a network — not what is biggest, what is best-connected to other well-connected things.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6130" y="2130043"/>
            <a:ext cx="3399434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33874" y="2367787"/>
            <a:ext cx="2923946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Community detection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Finds the clusters nobody drew on the org chart — groups that behave as a unit whether or not anyone intended them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5020" y="2130043"/>
            <a:ext cx="3399434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2764" y="2367787"/>
            <a:ext cx="2923946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Path &amp; reachability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Traces how exposure travels. Who is two steps from a sanctioned party; what breaks if this node disappears.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70754"/>
            <a:ext cx="32004" cy="1051560"/>
          </a:xfrm>
          <a:prstGeom prst="rect">
            <a:avLst/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270754"/>
            <a:ext cx="8595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1161A"/>
                </a:solidFill>
                <a:latin typeface="Georgia"/>
              </a:rPr>
              <a:t>These have been production-ready for a decade. What took weeks was the specialist work between having a database and having an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04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737E84"/>
                </a:solidFill>
                <a:latin typeface="Menlo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602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Database to defensible answer, in five stages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21483"/>
            <a:ext cx="1951878" cy="224612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95528" y="2221483"/>
            <a:ext cx="1915302" cy="32004"/>
          </a:xfrm>
          <a:prstGeom prst="rect">
            <a:avLst/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459227"/>
            <a:ext cx="1476390" cy="17706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900" b="0" i="0" spc="150">
                <a:solidFill>
                  <a:srgbClr val="0F6E5C"/>
                </a:solidFill>
                <a:latin typeface="Menlo"/>
              </a:rPr>
              <a:t>01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spc="-30">
                <a:solidFill>
                  <a:srgbClr val="11161A"/>
                </a:solidFill>
                <a:latin typeface="Helvetica Neue"/>
              </a:rPr>
              <a:t>Connect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D474D"/>
                </a:solidFill>
                <a:latin typeface="Georgia"/>
              </a:rPr>
              <a:t>Verify reachability, permissions and compute availability before you invest any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8574" y="2221483"/>
            <a:ext cx="1951878" cy="224612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966862" y="2221483"/>
            <a:ext cx="1915302" cy="32004"/>
          </a:xfrm>
          <a:prstGeom prst="rect">
            <a:avLst/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6318" y="2459227"/>
            <a:ext cx="1476390" cy="17706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900" b="0" i="0" spc="150">
                <a:solidFill>
                  <a:srgbClr val="0F6E5C"/>
                </a:solidFill>
                <a:latin typeface="Menlo"/>
              </a:rPr>
              <a:t>02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spc="-30">
                <a:solidFill>
                  <a:srgbClr val="11161A"/>
                </a:solidFill>
                <a:latin typeface="Helvetica Neue"/>
              </a:rPr>
              <a:t>Discover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D474D"/>
                </a:solidFill>
                <a:latin typeface="Georgia"/>
              </a:rPr>
              <a:t>The schema is read from the database. You don’t describe your data model — it finds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9908" y="2221483"/>
            <a:ext cx="1951878" cy="224612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138196" y="2221483"/>
            <a:ext cx="1915302" cy="32004"/>
          </a:xfrm>
          <a:prstGeom prst="rect">
            <a:avLst/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7652" y="2459227"/>
            <a:ext cx="1476390" cy="17706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900" b="0" i="0" spc="150">
                <a:solidFill>
                  <a:srgbClr val="0F6E5C"/>
                </a:solidFill>
                <a:latin typeface="Menlo"/>
              </a:rPr>
              <a:t>03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spc="-30">
                <a:solidFill>
                  <a:srgbClr val="11161A"/>
                </a:solidFill>
                <a:latin typeface="Helvetica Neue"/>
              </a:rPr>
              <a:t>Ask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D474D"/>
                </a:solidFill>
                <a:latin typeface="Georgia"/>
              </a:rPr>
              <a:t>Upload your requirements document, or let the Copilot interview you about your actual graph.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1242" y="2221483"/>
            <a:ext cx="1951878" cy="224612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309530" y="2221483"/>
            <a:ext cx="1915302" cy="32004"/>
          </a:xfrm>
          <a:prstGeom prst="rect">
            <a:avLst/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8986" y="2459227"/>
            <a:ext cx="1476390" cy="17706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900" b="0" i="0" spc="150">
                <a:solidFill>
                  <a:srgbClr val="0F6E5C"/>
                </a:solidFill>
                <a:latin typeface="Menlo"/>
              </a:rPr>
              <a:t>04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spc="-30">
                <a:solidFill>
                  <a:srgbClr val="11161A"/>
                </a:solidFill>
                <a:latin typeface="Helvetica Neue"/>
              </a:rPr>
              <a:t>Curate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D474D"/>
                </a:solidFill>
                <a:latin typeface="Georgia"/>
              </a:rPr>
              <a:t>Agents propose analyses. You approve, adjust or reject before anything runs.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2576" y="2221483"/>
            <a:ext cx="1951878" cy="224612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480864" y="2221483"/>
            <a:ext cx="1915302" cy="32004"/>
          </a:xfrm>
          <a:prstGeom prst="rect">
            <a:avLst/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0320" y="2459227"/>
            <a:ext cx="1476390" cy="17706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900" b="0" i="0" spc="150">
                <a:solidFill>
                  <a:srgbClr val="0F6E5C"/>
                </a:solidFill>
                <a:latin typeface="Menlo"/>
              </a:rPr>
              <a:t>05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spc="-30">
                <a:solidFill>
                  <a:srgbClr val="11161A"/>
                </a:solidFill>
                <a:latin typeface="Helvetica Neue"/>
              </a:rPr>
              <a:t>Run &amp; publish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D474D"/>
                </a:solidFill>
                <a:latin typeface="Georgia"/>
              </a:rPr>
              <a:t>Live pipeline, results back in your database, reports with full lineage.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16245"/>
            <a:ext cx="9052560" cy="336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474D"/>
                </a:solidFill>
                <a:latin typeface="Georgia"/>
              </a:rPr>
              <a:t>One console and a growing library of reusable templates — instead of a bespoke project per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05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0F6E5C"/>
                </a:solidFill>
                <a:latin typeface="Menlo"/>
              </a:rPr>
              <a:t>STAGE 02 — 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602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It reads the map, however messy the map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8603"/>
            <a:ext cx="9052560" cy="6690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474D"/>
                </a:solidFill>
                <a:latin typeface="Georgia"/>
              </a:rPr>
              <a:t>Real databases don’t look like tutorials. Getting this stage right is what everything downstream depends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09391"/>
            <a:ext cx="10149840" cy="2842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0F6E5C"/>
                </a:solidFill>
                <a:latin typeface="Georgia"/>
              </a:rPr>
              <a:t>— </a:t>
            </a:r>
            <a:r>
              <a:rPr sz="1400" b="1" i="0">
                <a:solidFill>
                  <a:srgbClr val="11161A"/>
                </a:solidFill>
                <a:latin typeface="Georgia"/>
              </a:rPr>
              <a:t>Many logical types in one container.</a:t>
            </a:r>
            <a:r>
              <a:rPr sz="1400" b="0" i="0">
                <a:solidFill>
                  <a:srgbClr val="3D474D"/>
                </a:solidFill>
                <a:latin typeface="Georgia"/>
              </a:rPr>
              <a:t>  Plenty of databases cram dozens of entity types into a single collection, told apart by a type field. Naive tooling reports “one entity type: Entities” — which is useless. This doesn’t.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0F6E5C"/>
                </a:solidFill>
                <a:latin typeface="Georgia"/>
              </a:rPr>
              <a:t>— </a:t>
            </a:r>
            <a:r>
              <a:rPr sz="1400" b="1" i="0">
                <a:solidFill>
                  <a:srgbClr val="11161A"/>
                </a:solidFill>
                <a:latin typeface="Georgia"/>
              </a:rPr>
              <a:t>Several graphs sharing a database.</a:t>
            </a:r>
            <a:r>
              <a:rPr sz="1400" b="0" i="0">
                <a:solidFill>
                  <a:srgbClr val="3D474D"/>
                </a:solidFill>
                <a:latin typeface="Georgia"/>
              </a:rPr>
              <a:t>  A document corpus beside an extracted knowledge graph beside a straightforward HR dataset. Each is profiled separately and classified by what it is for.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0F6E5C"/>
                </a:solidFill>
                <a:latin typeface="Georgia"/>
              </a:rPr>
              <a:t>— </a:t>
            </a:r>
            <a:r>
              <a:rPr sz="1400" b="1" i="0">
                <a:solidFill>
                  <a:srgbClr val="11161A"/>
                </a:solidFill>
                <a:latin typeface="Georgia"/>
              </a:rPr>
              <a:t>Cross-graph links.</a:t>
            </a:r>
            <a:r>
              <a:rPr sz="1400" b="0" i="0">
                <a:solidFill>
                  <a:srgbClr val="3D474D"/>
                </a:solidFill>
                <a:latin typeface="Georgia"/>
              </a:rPr>
              <a:t>  Where those graphs actually join up is discovered by sampling real edges, not guessed from naming conventions.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0F6E5C"/>
                </a:solidFill>
                <a:latin typeface="Georgia"/>
              </a:rPr>
              <a:t>— </a:t>
            </a:r>
            <a:r>
              <a:rPr sz="1400" b="1" i="0">
                <a:solidFill>
                  <a:srgbClr val="11161A"/>
                </a:solidFill>
                <a:latin typeface="Georgia"/>
              </a:rPr>
              <a:t>Physical layout.</a:t>
            </a:r>
            <a:r>
              <a:rPr sz="1400" b="0" i="0">
                <a:solidFill>
                  <a:srgbClr val="3D474D"/>
                </a:solidFill>
                <a:latin typeface="Georgia"/>
              </a:rPr>
              <a:t>  How the data is spread across machines, read from the database itself — because that decides whether an analysis needs an expensive shuffle or can stay local.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06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0F6E5C"/>
                </a:solidFill>
                <a:latin typeface="Menlo"/>
              </a:rPr>
              <a:t>STAGE 03 —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1114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Two ways in, depending on where you’re starting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87319"/>
            <a:ext cx="5208879" cy="154051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2925063"/>
            <a:ext cx="4733391" cy="10650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 spc="-30">
                <a:solidFill>
                  <a:srgbClr val="11161A"/>
                </a:solidFill>
                <a:latin typeface="Helvetica Neue"/>
              </a:rPr>
              <a:t>Upload what you already have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Requirements are usually already written down — a brief, a PDF, a Word document. Upload it and the structured objectives, requirements and constraints are extracted from the prose.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5575" y="2687319"/>
            <a:ext cx="5208879" cy="154051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43319" y="2925063"/>
            <a:ext cx="4733391" cy="10650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 spc="-30">
                <a:solidFill>
                  <a:srgbClr val="11161A"/>
                </a:solidFill>
                <a:latin typeface="Helvetica Neue"/>
              </a:rPr>
              <a:t>Or let the Copilot interview you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Not a generic questionnaire. It has already seen your entity types, your relationship types, your volumes and whether your data is partitioned by customer — so it asks about your graph.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93589"/>
            <a:ext cx="9052560" cy="6690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474D"/>
                </a:solidFill>
                <a:latin typeface="Georgia"/>
              </a:rPr>
              <a:t>Either way you end up with a versioned requirements document you can review, edit, approve and revisit. Every analysis traces back to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07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0F6E5C"/>
                </a:solidFill>
                <a:latin typeface="Menlo"/>
              </a:rPr>
              <a:t>STAGE 04 — CURATE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602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Agents propose. People approve.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8603"/>
            <a:ext cx="9052560" cy="9669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474D"/>
                </a:solidFill>
                <a:latin typeface="Georgia"/>
              </a:rPr>
              <a:t>Given your requirements and your schema, agents propose concrete analytical questions worth asking of this graph — each becoming a template with a chosen algorithm, its parameters, and its scope.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53052"/>
            <a:ext cx="3399434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4984" y="3590796"/>
            <a:ext cx="2923946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Nothing runs unreviewed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Templates arrive as DRAFT and stay there until a person approves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6130" y="3353052"/>
            <a:ext cx="3399434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33874" y="3590796"/>
            <a:ext cx="2923946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Approved means immutable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Editing an approved template creates a new version rather than mutating the old one, so a published report always points at exactly what produced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5020" y="3353052"/>
            <a:ext cx="3399434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52764" y="3590796"/>
            <a:ext cx="2923946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Every knob is visible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Disagree with the algorithm choice or the parameters? Change them. The agents do the tedious mapping; you keep the judgement.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08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RUN &amp; PUBLISH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0F6E5C"/>
                </a:solidFill>
                <a:latin typeface="Menlo"/>
              </a:rPr>
              <a:t>STAGE 05 — RUN &amp;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602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Watch it work, then defend the 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30043"/>
            <a:ext cx="3399434" cy="2085847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2367787"/>
            <a:ext cx="2923946" cy="161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Three ways to run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1161A"/>
                </a:solidFill>
                <a:latin typeface="Georgia"/>
              </a:rPr>
              <a:t>Quick</a:t>
            </a:r>
            <a:r>
              <a:rPr sz="1200" b="0" i="0">
                <a:solidFill>
                  <a:srgbClr val="3D474D"/>
                </a:solidFill>
                <a:latin typeface="Georgia"/>
              </a:rPr>
              <a:t>  one prompt, one report, no setup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1161A"/>
                </a:solidFill>
                <a:latin typeface="Georgia"/>
              </a:rPr>
              <a:t>Guided</a:t>
            </a:r>
            <a:r>
              <a:rPr sz="1200" b="0" i="0">
                <a:solidFill>
                  <a:srgbClr val="3D474D"/>
                </a:solidFill>
                <a:latin typeface="Georgia"/>
              </a:rPr>
              <a:t>  Copilot interview, then a focused analysis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1161A"/>
                </a:solidFill>
                <a:latin typeface="Georgia"/>
              </a:rPr>
              <a:t>Detailed</a:t>
            </a:r>
            <a:r>
              <a:rPr sz="1200" b="0" i="0">
                <a:solidFill>
                  <a:srgbClr val="3D474D"/>
                </a:solidFill>
                <a:latin typeface="Georgia"/>
              </a:rPr>
              <a:t>  full requirements, many use cases, branches in parallel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6130" y="2130043"/>
            <a:ext cx="3399434" cy="2085847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33874" y="2367787"/>
            <a:ext cx="2923946" cy="161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Live pipeline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Every step with its status, artifacts and warnings. Retry, pause and resume — a failure at step four doesn’t mean starting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5020" y="2130043"/>
            <a:ext cx="3399434" cy="2085847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2764" y="2367787"/>
            <a:ext cx="2923946" cy="161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Reports that stay true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Rendered from database records, not exported as files. No more circulating a PDF that’s four months stale.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90210"/>
            <a:ext cx="9052560" cy="809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74D"/>
                </a:solidFill>
                <a:latin typeface="Georgia"/>
              </a:rPr>
              <a:t>Because everything is a record with lineage, you can compare this quarter against last, trace any figure back to the template, requirement version and run that produced it, and re-run months later with a defensible account of what changed.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09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737E84"/>
                </a:solidFill>
                <a:latin typeface="Menlo"/>
              </a:rPr>
              <a:t>PAST THE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602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Built for how deployments actually look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84323"/>
            <a:ext cx="10637215" cy="1371600"/>
          </a:xfrm>
          <a:prstGeom prst="roundRect">
            <a:avLst>
              <a:gd name="adj" fmla="val 5000"/>
            </a:avLst>
          </a:prstGeom>
          <a:solidFill>
            <a:srgbClr val="F6EEDF"/>
          </a:solidFill>
          <a:ln w="9525">
            <a:solidFill>
              <a:srgbClr val="966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58643"/>
            <a:ext cx="100885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 i="0" spc="150">
                <a:solidFill>
                  <a:srgbClr val="966014"/>
                </a:solidFill>
                <a:latin typeface="Menlo"/>
              </a:rPr>
              <a:t>THE ONE THAT SAVES YOU FROM YOURSELF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1161A"/>
                </a:solidFill>
                <a:latin typeface="Georgia"/>
              </a:rPr>
              <a:t>Many production databases hold many customers’ data in one place, kept apart by a single field. Run an analysis blind across that and you get a beautiful result that mixes customers together — worse than no result. The product detects that layout from the database, names the field it found, and warns you before the run starts.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30243"/>
            <a:ext cx="3399434" cy="213766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14984" y="3967987"/>
            <a:ext cx="2923946" cy="1662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Secrets stay out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Credentials are held as references, never values. Exported bundles exclude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6130" y="3730243"/>
            <a:ext cx="3399434" cy="213766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33874" y="3967987"/>
            <a:ext cx="2923946" cy="1662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Everything is audited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Create, update, approve, launch, publish, import, export, archive — recorded and attributable.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5020" y="3730243"/>
            <a:ext cx="3399434" cy="213766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52764" y="3967987"/>
            <a:ext cx="2923946" cy="1662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Retention that shows its work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The cleanup sweep is a dry run by default: it names every record it would remove before anything is deleted. Approved requirements, published snapshots and the runs behind them are never removed at any 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10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VERTICALS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737E84"/>
                </a:solidFill>
                <a:latin typeface="Menlo"/>
              </a:rPr>
              <a:t>TIME TO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602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Start from a vertical, not from 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8603"/>
            <a:ext cx="9052560" cy="9669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474D"/>
                </a:solidFill>
                <a:latin typeface="Georgia"/>
              </a:rPr>
              <a:t>Five industry verticals ship with specialised analysis prompts and pattern detectors. Custom verticals can be generated per project, and a domain’s use cases and templates travel as a portable project bundle.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61612"/>
            <a:ext cx="1951878" cy="17419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4984" y="3499356"/>
            <a:ext cx="1476390" cy="1266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Ad-Tech &amp; identity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Audience overlap, identity stitching, influence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8574" y="3261612"/>
            <a:ext cx="1951878" cy="17419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86318" y="3499356"/>
            <a:ext cx="1476390" cy="1266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FinTech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Exposure paths, counterparty networks, concentration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9908" y="3261612"/>
            <a:ext cx="1951878" cy="17419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57652" y="3499356"/>
            <a:ext cx="1476390" cy="1266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Fraud intelligence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Mule-account rings, device and IP clustering.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1242" y="3261612"/>
            <a:ext cx="1951878" cy="17419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28986" y="3499356"/>
            <a:ext cx="1476390" cy="1266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Social networks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Community structure, influence, information 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2576" y="3261612"/>
            <a:ext cx="1951878" cy="17419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700320" y="3499356"/>
            <a:ext cx="1476390" cy="12664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Generic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A sensible default for any other domain.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77863"/>
            <a:ext cx="9052560" cy="7829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D474D"/>
                </a:solidFill>
                <a:latin typeface="Georgia"/>
              </a:rPr>
              <a:t>Bundles import as drafts, never as approved work — a starter pack is a starting point, not something that quietly starts running. Importing cannot execute code: a file that tries to smuggle executable content is rejected rather than run. The format is documented, so your team’s accumulated templates become the bundle you hand to the next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6855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737E84"/>
                </a:solidFill>
                <a:latin typeface="Menlo"/>
              </a:rPr>
              <a:t>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737E84"/>
                </a:solidFill>
                <a:latin typeface="Menlo"/>
              </a:rPr>
              <a:t>WHO IT’S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10637215" cy="602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90">
                <a:solidFill>
                  <a:srgbClr val="11161A"/>
                </a:solidFill>
                <a:latin typeface="Helvetica Neue"/>
              </a:rPr>
              <a:t>Ask the question. Keep the receipt.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84323"/>
            <a:ext cx="3399434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2322067"/>
            <a:ext cx="2923946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Solutions &amp; data teams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Currently spinning up a bespoke project per engagement. Trade that for one console and a growing template library.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6130" y="2084323"/>
            <a:ext cx="3399434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33874" y="2322067"/>
            <a:ext cx="2923946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Domain analysts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You don’t need to know what a damping factor is to ask “who are the key players here?” Review the proposal in business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5020" y="2084323"/>
            <a:ext cx="3399434" cy="1729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B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2764" y="2322067"/>
            <a:ext cx="2923946" cy="1253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 spc="-30">
                <a:solidFill>
                  <a:srgbClr val="11161A"/>
                </a:solidFill>
                <a:latin typeface="Helvetica Neue"/>
              </a:rPr>
              <a:t>Anyone defending a number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D474D"/>
                </a:solidFill>
                <a:latin typeface="Georgia"/>
              </a:rPr>
              <a:t>Versioned requirements, immutable approved templates, run lineage and a full audit trail. “Where did this come from?” is a link, not an excavation.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42154"/>
            <a:ext cx="10637215" cy="952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79898"/>
            <a:ext cx="247642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spc="-120">
                <a:solidFill>
                  <a:srgbClr val="11161A"/>
                </a:solidFill>
                <a:latin typeface="Helvetica Neue"/>
              </a:rPr>
              <a:t>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737E84"/>
                </a:solidFill>
                <a:latin typeface="Menlo"/>
              </a:rPr>
              <a:t>STAGES, ONE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6543" y="4279898"/>
            <a:ext cx="247642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spc="-120">
                <a:solidFill>
                  <a:srgbClr val="11161A"/>
                </a:solidFill>
                <a:latin typeface="Helvetica Neue"/>
              </a:rPr>
              <a:t>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737E84"/>
                </a:solidFill>
                <a:latin typeface="Menlo"/>
              </a:rPr>
              <a:t>RUN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4279898"/>
            <a:ext cx="247642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spc="-120">
                <a:solidFill>
                  <a:srgbClr val="11161A"/>
                </a:solidFill>
                <a:latin typeface="Helvetica Neue"/>
              </a:rPr>
              <a:t>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737E84"/>
                </a:solidFill>
                <a:latin typeface="Menlo"/>
              </a:rPr>
              <a:t>VERTICAL STARTER BUNDLES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5151" y="4279898"/>
            <a:ext cx="247642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spc="-120">
                <a:solidFill>
                  <a:srgbClr val="11161A"/>
                </a:solidFill>
                <a:latin typeface="Helvetica Neue"/>
              </a:rPr>
              <a:t>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737E84"/>
                </a:solidFill>
                <a:latin typeface="Menlo"/>
              </a:rPr>
              <a:t>LINES OF CODE TO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40018"/>
            <a:ext cx="9052560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37E84"/>
                </a:solidFill>
                <a:latin typeface="Georgia"/>
              </a:rPr>
              <a:t>Runs on ArangoDB — a database that stores data as a network of connected things, with an engine built to run these algorithms at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